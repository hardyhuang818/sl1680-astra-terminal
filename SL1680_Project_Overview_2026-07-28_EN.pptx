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449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</a:rPr>
              <a:t>SL1680 Edge-AI Terminal · 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>
                <a:solidFill>
                  <a:srgbClr val="CAE6D4"/>
                </a:solidFill>
                <a:latin typeface="Calibri"/>
                <a:ea typeface="Calibri"/>
              </a:rPr>
              <a:t>2026-07-28 · v2.7 · Synaptics SL1680 (Astra Dolphin RDK)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840480"/>
            <a:ext cx="2514600" cy="457200"/>
          </a:xfrm>
          <a:prstGeom prst="roundRect">
            <a:avLst/>
          </a:prstGeom>
          <a:solidFill>
            <a:srgbClr val="2A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</a:rPr>
              <a:t>Local Voice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3840480"/>
            <a:ext cx="2514600" cy="457200"/>
          </a:xfrm>
          <a:prstGeom prst="roundRect">
            <a:avLst/>
          </a:prstGeom>
          <a:solidFill>
            <a:srgbClr val="2A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</a:rPr>
              <a:t>DL7400 4-Display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79" y="3840480"/>
            <a:ext cx="2514600" cy="457200"/>
          </a:xfrm>
          <a:prstGeom prst="roundRect">
            <a:avLst/>
          </a:prstGeom>
          <a:solidFill>
            <a:srgbClr val="2A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</a:rPr>
              <a:t>TD7800 Touch Panel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3840480"/>
            <a:ext cx="2514600" cy="457200"/>
          </a:xfrm>
          <a:prstGeom prst="roundRect">
            <a:avLst/>
          </a:prstGeom>
          <a:solidFill>
            <a:srgbClr val="2A6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Calibri"/>
              </a:rPr>
              <a:t>Recovery 9/9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A9D2BA"/>
                </a:solidFill>
                <a:latin typeface="Calibri"/>
                <a:ea typeface="Calibri"/>
              </a:rPr>
              <a:t>Open-source Astra SDK + borrowed RDK/EVK + self-purchased peripherals | fully measured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1 · What This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2/11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228600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1A5C38"/>
                </a:solidFill>
                <a:latin typeface="Calibri"/>
                <a:ea typeface="Calibri"/>
              </a:rPr>
              <a:t>An edge-AI human-machine terminal: 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2322A"/>
                </a:solidFill>
                <a:latin typeface="Calibri"/>
                <a:ea typeface="Calibri"/>
              </a:rPr>
              <a:t>local voice AI (ASR/TTS fully on-board) + dual display chains (DL7400 USB multi-display + TC358775 direct-drive LVDS touch panel) + visual wake-up</a:t>
            </a: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500" b="0">
                <a:solidFill>
                  <a:srgbClr val="5F7A68"/>
                </a:solidFill>
                <a:latin typeface="Calibri"/>
                <a:ea typeface="Calibri"/>
              </a:rPr>
              <a:t>Only the dialogue brain is cloud (DeepSeek); local fallback model offline; everything survives power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947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>
                <a:solidFill>
                  <a:srgbClr val="1A5C38"/>
                </a:solidFill>
                <a:latin typeface="Calibri"/>
                <a:ea typeface="Calibri"/>
              </a:rPr>
              <a:t>Test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43400"/>
            <a:ext cx="36118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5537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Calibri"/>
                <a:ea typeface="Calibri"/>
              </a:rPr>
              <a:t>Open SDK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2322A"/>
                </a:solidFill>
                <a:latin typeface="Calibri"/>
                <a:ea typeface="Calibri"/>
              </a:rPr>
              <a:t>GitHub Astra SDK (Yocto scarthgap)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343400"/>
            <a:ext cx="36118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45537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Calibri"/>
                <a:ea typeface="Calibri"/>
              </a:rPr>
              <a:t>Borrowed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502920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2322A"/>
                </a:solidFill>
                <a:latin typeface="Calibri"/>
                <a:ea typeface="Calibri"/>
              </a:rPr>
              <a:t>SL1680 RDK ×1 + DL7400 EVK ×1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4343400"/>
            <a:ext cx="3611880" cy="1554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4553712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E8B57"/>
                </a:solidFill>
                <a:latin typeface="Calibri"/>
                <a:ea typeface="Calibri"/>
              </a:rPr>
              <a:t>Purchased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5029200"/>
            <a:ext cx="31546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22322A"/>
                </a:solidFill>
                <a:latin typeface="Calibri"/>
                <a:ea typeface="Calibri"/>
              </a:rPr>
              <a:t>C920 / 4 monitors / TM10.5 panel / LAMTL / audio kit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2 ·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3/11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11155680" cy="5120640"/>
          </a:xfrm>
          <a:prstGeom prst="roundRect">
            <a:avLst/>
          </a:prstGeom>
          <a:solidFill>
            <a:srgbClr val="102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[C920 camera] ─USB→ NPU: person detect 25ms/frame → visual wake greeting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[C920 mic]    ─USB→ CPU: silero VAD → SenseVoice ASR(int8) → 4-layer routing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        ① local volume   ② local device   ③ web search + grounding   ④ cloud DeepSeek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        → matcha TTS → ALSA astraout → [HT517 amp + speaker] (I2S)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/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Display A: dl_face → GStreamer → [DL7400] ─USB3→ up to 4 monitors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            screen0 = face + bilingual subtitles    screen1 = live camera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/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Display B: weston → DSI 4-lane → [LAMTL / TC358775] ─LVDS→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            [TM10.5-TD7800 1280×720 touch panel] (touch I2C+INT back, ~120Hz)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/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1550" b="0">
                <a:solidFill>
                  <a:srgbClr val="D8EFE2"/>
                </a:solidFill>
                <a:latin typeface="Calibri"/>
                <a:ea typeface="Calibri"/>
              </a:rPr>
              <a:t>Cloud: DeepSeek + Zhipu standalone search      Offline fallback: local qwen2.5-0.5b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3 · Three Achievement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4/11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3611880" cy="402336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5361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5C38"/>
                </a:solidFill>
                <a:latin typeface="Calibri"/>
                <a:ea typeface="Calibri"/>
              </a:rPr>
              <a:t>A · Local Voice Terminal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029968"/>
            <a:ext cx="32095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Calibri"/>
                <a:ea typeface="Calibri"/>
              </a:rPr>
              <a:t>RTF 0.197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852928"/>
            <a:ext cx="320954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Calibri"/>
                <a:ea typeface="Calibri"/>
              </a:rPr>
              <a:t>Fully local ASR+TTS; 4-layer routing; visual wake; mic guard 0 idle-spin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25112" y="1371600"/>
            <a:ext cx="3611880" cy="402336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5361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5C38"/>
                </a:solidFill>
                <a:latin typeface="Calibri"/>
                <a:ea typeface="Calibri"/>
              </a:rPr>
              <a:t>B · DL7400 Multi-Display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029968"/>
            <a:ext cx="32095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Calibri"/>
                <a:ea typeface="Calibri"/>
              </a:rPr>
              <a:t>4 screens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852928"/>
            <a:ext cx="320954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Calibri"/>
                <a:ea typeface="Calibri"/>
              </a:rPr>
              <a:t>8.7/5.8/15.0/5.7 fps concurrent; bottleneck = DL streaming; 3 SDK defects reported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47304" y="1371600"/>
            <a:ext cx="3611880" cy="402336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5361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5C38"/>
                </a:solidFill>
                <a:latin typeface="Calibri"/>
                <a:ea typeface="Calibri"/>
              </a:rPr>
              <a:t>C · TD7800 Touch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029968"/>
            <a:ext cx="320954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2E8B57"/>
                </a:solidFill>
                <a:latin typeface="Calibri"/>
                <a:ea typeface="Calibri"/>
              </a:rPr>
              <a:t>6 root causes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852928"/>
            <a:ext cx="320954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Calibri"/>
                <a:ea typeface="Calibri"/>
              </a:rPr>
              <a:t>DSI→LVDS direct drive lit; touch 120Hz; SPI debug channel; recovery 9/9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1500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F7A68"/>
                </a:solidFill>
                <a:latin typeface="Calibri"/>
                <a:ea typeface="Calibri"/>
              </a:rPr>
              <a:t>One engineering discipline across all three: the board is the truth · immediate backflow · sha256 reconciliation · byte-level acceptance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3A · Local Voice-AI Terminal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5/11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3968496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194560"/>
                <a:gridCol w="5669280"/>
                <a:gridCol w="329184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Capability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Key points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Measured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Fully local speech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SenseVoice ASR(int8) + matcha TTS, no PC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ASR RTF 0.197; TTS 0.37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4-layer routing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Local cmds really execute; realtime Qs real search + grounding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"Volume 20%" → amixer [20%]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Visual wake-up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NPU person detection → greeting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25 ms/frame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Microphone guard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Card-name + capture-node wait; survives 86 s USB flap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Adversarial: 0 model reloads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Bilingual subtitles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astra_translate daemon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CN/EN two-line on screen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Stability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Full power-cycle recovery; daily cleanup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Re-verified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5F7A68"/>
                </a:solidFill>
                <a:latin typeface="Calibri"/>
                <a:ea typeface="Calibri"/>
              </a:rPr>
              <a:t>Models: mobilenet (NPU) · silero VAD · SenseVoice int8 · matcha+vocos · qwen2.5-0.5b fallback · cloud deepseek-chat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3B · DL7400 USB Multi-Display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6/11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2697480" cy="201168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E8B57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128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5C38"/>
                </a:solidFill>
                <a:latin typeface="Calibri"/>
                <a:ea typeface="Calibri"/>
              </a:rPr>
              <a:t>screens at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Calibri"/>
                <a:ea typeface="Calibri"/>
              </a:rPr>
              <a:t>2×4K + 2 hi-res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1" y="1280160"/>
            <a:ext cx="2697480" cy="201168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1" y="1481328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E8B57"/>
                </a:solidFill>
                <a:latin typeface="Calibri"/>
                <a:ea typeface="Calibri"/>
              </a:rPr>
              <a:t>8.7/5.8/15.0/5.7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1" y="22128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5C38"/>
                </a:solidFill>
                <a:latin typeface="Calibri"/>
                <a:ea typeface="Calibri"/>
              </a:rPr>
              <a:t>concurrent fps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1" y="26517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Calibri"/>
                <a:ea typeface="Calibri"/>
              </a:rPr>
              <a:t>USB3 total constant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1280160"/>
            <a:ext cx="2697480" cy="201168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9944" y="1481328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E8B57"/>
                </a:solidFill>
                <a:latin typeface="Calibri"/>
                <a:ea typeface="Calibri"/>
              </a:rPr>
              <a:t>−20%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9944" y="22128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5C38"/>
                </a:solidFill>
                <a:latin typeface="Calibri"/>
                <a:ea typeface="Calibri"/>
              </a:rPr>
              <a:t>4K when 3→4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26517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Calibri"/>
                <a:ea typeface="Calibri"/>
              </a:rPr>
              <a:t>7.2 → 5.8 fps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1280160"/>
            <a:ext cx="2697480" cy="201168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1481328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500" b="1">
                <a:solidFill>
                  <a:srgbClr val="2E8B57"/>
                </a:solidFill>
                <a:latin typeface="Calibri"/>
                <a:ea typeface="Calibri"/>
              </a:rPr>
              <a:t>×3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72016" y="2212848"/>
            <a:ext cx="2331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5C38"/>
                </a:solidFill>
                <a:latin typeface="Calibri"/>
                <a:ea typeface="Calibri"/>
              </a:rPr>
              <a:t>SDK defects filed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72016" y="2651760"/>
            <a:ext cx="2331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5F7A68"/>
                </a:solidFill>
                <a:latin typeface="Calibri"/>
                <a:ea typeface="Calibri"/>
              </a:rPr>
              <a:t>with DisplayLink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10789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E8B57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22322A"/>
                </a:solidFill>
                <a:latin typeface="Calibri"/>
                <a:ea typeface="Calibri"/>
              </a:rPr>
              <a:t>Pipeline measured stage-by-stage: 111 → 31.9 (HW scale) → 7.4 fps — bottleneck is DL streaming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E8B57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22322A"/>
                </a:solidFill>
                <a:latin typeface="Calibri"/>
                <a:ea typeface="Calibri"/>
              </a:rPr>
              <a:t>Three SDK defects: hotplug callback always fails / EDID &amp; modes all cached / dpaux on a dead sink blacks out everything</a:t>
            </a:r>
          </a:p>
          <a:p>
            <a:pPr algn="l">
              <a:lnSpc>
                <a:spcPct val="112000"/>
              </a:lnSpc>
              <a:spcAft>
                <a:spcPts val="1200"/>
              </a:spcAft>
            </a:pPr>
            <a:r>
              <a:rPr sz="1500" b="1">
                <a:solidFill>
                  <a:srgbClr val="2E8B57"/>
                </a:solidFill>
                <a:latin typeface="Calibri"/>
                <a:ea typeface="Calibri"/>
              </a:rPr>
              <a:t>•  </a:t>
            </a:r>
            <a:r>
              <a:rPr sz="1500" b="0">
                <a:solidFill>
                  <a:srgbClr val="B4540A"/>
                </a:solidFill>
                <a:latin typeface="Calibri"/>
                <a:ea typeface="Calibri"/>
              </a:rPr>
              <a:t>No self-heal after monitor power loss — workaround: voice "re-detect screens"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3C · TD7800 Direct Drive: Six Root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7/11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3712463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640080"/>
                <a:gridCol w="5394960"/>
                <a:gridCol w="5120640"/>
              </a:tblGrid>
              <a:tr h="53035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#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Root cause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Fix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Raspberry-Pi panel leftovers in base device tree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Replace dsi_panel with TM10.5 timing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TC358775 powers up tri-stated, uninitialized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29 DSI generic writes baked into DTB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Panel RESX floating → whole TDDI in reset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Tie high 3.3V in hardware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U-Boot muxed SPI pads to UART2 flow control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Reclaim via dts pinmux (bonus SPI debug channel)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530351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Zero DSI→LVDS bandwidth margin → live noise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Byte_clk 65300 + PCLKDIV=4 (+33% margin)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530357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6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Touch INT GPIO bank ambiguous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Located empirically: porta10 (ATTN drain method)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4406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A5C38"/>
                </a:solidFill>
                <a:latin typeface="Calibri"/>
                <a:ea typeface="Calibri"/>
              </a:rPr>
              <a:t>Key formula: </a:t>
            </a:r>
            <a:r>
              <a:rPr sz="1400" b="0">
                <a:solidFill>
                  <a:srgbClr val="22322A"/>
                </a:solidFill>
                <a:latin typeface="Calibri"/>
                <a:ea typeface="Calibri"/>
              </a:rPr>
              <a:t>LVDS pclk = DSI clock-lane freq ÷ PCLKDIV; DSI must keep margin (vendor 4.4%, ours 33%)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1A5C38"/>
                </a:solidFill>
                <a:latin typeface="Calibri"/>
                <a:ea typeface="Calibri"/>
              </a:rPr>
              <a:t>Companions: </a:t>
            </a:r>
            <a:r>
              <a:rPr sz="1400" b="0">
                <a:solidFill>
                  <a:srgbClr val="22322A"/>
                </a:solidFill>
                <a:latin typeface="Calibri"/>
                <a:ea typeface="Calibri"/>
              </a:rPr>
              <a:t>SPI tool (ID / BIST / NVM read) · 120 Hz multitouch · 180° rotation + calibration · recovery 9/9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4 · Key Knowledge Distilled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8/11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5532120" cy="484632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5029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1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DSI→LVDS bridges need bandwidth margin (zero = live noise)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2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TDDI resets always tied high in hardware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3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3.3V into 1.8V pins back-feeds via ESD (measured 2.38V)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4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Never trust EDID preferred_mode (the 160 Hz trap)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5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Non-48 kHz rates crash the audio driver (astraout is required)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280160"/>
            <a:ext cx="5532120" cy="4846320"/>
          </a:xfrm>
          <a:prstGeom prst="roundRect">
            <a:avLst/>
          </a:prstGeom>
          <a:solidFill>
            <a:srgbClr val="F0F7F2"/>
          </a:solidFill>
          <a:ln w="9525">
            <a:solidFill>
              <a:srgbClr val="D9E6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00200"/>
            <a:ext cx="5029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6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Zhipu chat web_search is fake (standalone API + grounding)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7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Yocto: FetchContent hard-off / .so packaging / :pn- scope / debugfs-level acceptance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8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The board is the truth: backflow + sha256</a:t>
            </a:r>
          </a:p>
          <a:p>
            <a:pPr algn="l">
              <a:lnSpc>
                <a:spcPct val="110000"/>
              </a:lnSpc>
              <a:spcAft>
                <a:spcPts val="1400"/>
              </a:spcAft>
            </a:pPr>
            <a:r>
              <a:rPr sz="1700" b="1">
                <a:solidFill>
                  <a:srgbClr val="2E8B57"/>
                </a:solidFill>
                <a:latin typeface="Calibri"/>
                <a:ea typeface="Calibri"/>
              </a:rPr>
              <a:t>9  </a:t>
            </a:r>
            <a:r>
              <a:rPr sz="1450" b="0">
                <a:solidFill>
                  <a:srgbClr val="22322A"/>
                </a:solidFill>
                <a:latin typeface="Calibri"/>
                <a:ea typeface="Calibri"/>
              </a:rPr>
              <a:t>Remote ops: script files / busybox gaps / BOM guard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5 · Assets &amp; 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9/11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A5C38"/>
                </a:solidFill>
                <a:latin typeface="Calibri"/>
                <a:ea typeface="Calibri"/>
              </a:rPr>
              <a:t>Software / hardware assets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554480"/>
          <a:ext cx="5532119" cy="2852928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011680"/>
                <a:gridCol w="3520439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Asset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Notes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meta-dlsdk v2.7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all recipes + TD7800 kernel patch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Full image 2.5 GB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flash-and-go (models 2 GB separate)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3 boot bundles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flash/rollback scripts included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Debug-code backup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79 files + SHA256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Five backup sets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boot slots/models/code/config/docs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63640" y="10972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1A5C38"/>
                </a:solidFill>
                <a:latin typeface="Calibri"/>
                <a:ea typeface="Calibri"/>
              </a:rPr>
              <a:t>Board state (measured)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554480"/>
          <a:ext cx="5394960" cy="2852928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2651760"/>
                <a:gridCol w="274320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Item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State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Voice/translate/UI/vision-wake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auto-start, running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DL7400 multi + TM10.5 desktop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both display chains live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Touch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0x2C claimed · porta10 · calibrated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Power-cycle recovery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9/9 self-check passed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Timezone/rotation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CST · 180° persisted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5F7A68"/>
                </a:solidFill>
                <a:latin typeface="Calibri"/>
                <a:ea typeface="Calibri"/>
              </a:rPr>
              <a:t>Document navigator: §9 of this overview indexes all 20+ topic documents (CN/EN), from top level down to source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>
                <a:solidFill>
                  <a:srgbClr val="1A5C38"/>
                </a:solidFill>
                <a:latin typeface="Calibri"/>
                <a:ea typeface="Calibri"/>
              </a:rPr>
              <a:t>6 · Known Open Issues (honest list)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89920" y="384048"/>
            <a:ext cx="914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0">
                <a:solidFill>
                  <a:srgbClr val="5F7A68"/>
                </a:solidFill>
                <a:latin typeface="Calibri"/>
                <a:ea typeface="Calibri"/>
              </a:rPr>
              <a:t>10/11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3621024"/>
        </p:xfrm>
        <a:graphic>
          <a:graphicData uri="http://schemas.openxmlformats.org/drawingml/2006/table">
            <a:tbl firstRow="0" bandRow="0">
              <a:tblPr firstRow="1" bandRow="1">
                <a:tableStyleId>{5C22544A-7EE6-4342-B048-85BDC9FD1C3A}</a:tableStyleId>
              </a:tblPr>
              <a:tblGrid>
                <a:gridCol w="640080"/>
                <a:gridCol w="8229600"/>
                <a:gridCol w="228600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#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Issue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1">
                          <a:solidFill>
                            <a:srgbClr val="1A5C38"/>
                          </a:solidFill>
                          <a:latin typeface="Calibri"/>
                          <a:ea typeface="Calibri"/>
                        </a:rPr>
                        <a:t>Priority</a:t>
                      </a:r>
                    </a:p>
                  </a:txBody>
                  <a:tcPr marL="54864" marR="54864" marT="22860" marB="22860" anchor="ctr">
                    <a:solidFill>
                      <a:srgbClr val="E4F0E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1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KWS wake word not integrated — false triggers burn cloud API; assets ready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★ Highest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2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No AEC echo cancellation (drops capture frames during playback)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High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3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DL7400 no self-heal after power loss (3 SDK defects, reported)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Med · vendor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4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On-board mic ZTS6672 driver (FAE) / TTS GPLv3 licensing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Medium</a:t>
                      </a:r>
                    </a:p>
                  </a:txBody>
                  <a:tcPr marL="54864" marR="54864" marT="22860" marB="22860" anchor="ctr">
                    <a:solidFill>
                      <a:srgbClr val="FAFCFB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5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Image not flash-verified on hardware; LVDS twisted pairs; rootfs trio to Yocto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22322A"/>
                          </a:solidFill>
                          <a:latin typeface="Calibri"/>
                          <a:ea typeface="Calibri"/>
                        </a:rPr>
                        <a:t>Med–Low</a:t>
                      </a:r>
                    </a:p>
                  </a:txBody>
                  <a:tcPr marL="54864" marR="54864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B4540A"/>
                </a:solidFill>
                <a:latin typeface="Calibri"/>
                <a:ea typeface="Calibri"/>
              </a:rPr>
              <a:t>Why KWS is #1: 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0">
                <a:solidFill>
                  <a:srgbClr val="22322A"/>
                </a:solidFill>
                <a:latin typeface="Calibri"/>
                <a:ea typeface="Calibri"/>
              </a:rPr>
              <a:t>Kills false triggering (saves API cost) and unlocks the pause/wake interaction loop — assets and binaries already on 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5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</a:rPr>
              <a:t>7 ·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10515600" cy="1261872"/>
          </a:xfrm>
          <a:prstGeom prst="roundRect">
            <a:avLst/>
          </a:prstGeom>
          <a:solidFill>
            <a:srgbClr val="246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1746504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</a:rPr>
              <a:t>①  Integrate KWS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221992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AE6D4"/>
                </a:solidFill>
                <a:latin typeface="Calibri"/>
                <a:ea typeface="Calibri"/>
              </a:rPr>
              <a:t>Fixes false triggering + unlocks pause-by-voice; assets ready, ~0.5–1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081528"/>
            <a:ext cx="10515600" cy="1261872"/>
          </a:xfrm>
          <a:prstGeom prst="roundRect">
            <a:avLst/>
          </a:prstGeom>
          <a:solidFill>
            <a:srgbClr val="246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227832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</a:rPr>
              <a:t>②  Deliverable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70332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AE6D4"/>
                </a:solidFill>
                <a:latin typeface="Calibri"/>
                <a:ea typeface="Calibri"/>
              </a:rPr>
              <a:t>Real-hardware flash verification + rootfs trio into Yocto — colleagues get everything in one flash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562856"/>
            <a:ext cx="10515600" cy="1261872"/>
          </a:xfrm>
          <a:prstGeom prst="roundRect">
            <a:avLst/>
          </a:prstGeom>
          <a:solidFill>
            <a:srgbClr val="246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70916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</a:rPr>
              <a:t>③  Robotics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5184648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0">
                <a:solidFill>
                  <a:srgbClr val="CAE6D4"/>
                </a:solidFill>
                <a:latin typeface="Calibri"/>
                <a:ea typeface="Calibri"/>
              </a:rPr>
              <a:t>SL1680 torso + TM10.5 face + DL7400 teleop console + finger actuators — aligned with Synaptics' interfaces-for-robotics narrative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217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>
                <a:solidFill>
                  <a:srgbClr val="A9D2BA"/>
                </a:solidFill>
                <a:latin typeface="Calibri"/>
                <a:ea typeface="Calibri"/>
              </a:rPr>
              <a:t>SL1680 Project Overview v2.7 · 2026-07-28 · full doc set (MD/HTML/PDF/PPTX × CN/EN) in the project folder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